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3A810-8534-4441-95C3-3EFFB9854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5EA18-7946-40D4-9C65-EDDE01849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B34F5-63DF-48F3-9E4B-8358F88C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7DFF9-7B0C-4623-9647-B76698D8F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FBE03-D130-4882-8C56-5001CDFB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91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F4E9-9875-4C6B-ABE1-43C89CDC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C2951-28AC-4FB8-9F7B-4CCE3CB7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3A85F-FC90-40CD-9E1B-93828970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0A81D-5637-4A9A-8C03-7B1FA4CF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F4D4-9148-4D61-8F30-E68C2946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88E59-986A-465B-BE90-DA6C52B1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A955B-5FF7-46C3-9C01-D26896150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60D0C-7C1F-42DD-959F-0B4E340D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D48F0-7F9B-4796-982C-6AC2D82D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84ACF-42BF-4051-AD03-27A48730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1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2D43-A426-46C6-9E35-443D31C3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393D-BD52-458C-AA9F-D9E107254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DFAEF-E084-4C28-85A8-EA164B324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875BF-BE6E-4291-923A-37B3F0100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0B41B-692B-43B5-BB76-A99BBDBB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F6891-6078-4831-B3B1-4E60EC79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3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738B9-8090-4028-987F-D8B33168A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49ECB-4BEB-42C0-BA32-81377D56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6F646-9301-4699-BD42-00E53CC4A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F362A-0C75-4896-B2FF-71DAD524D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B1A4A9-7F12-4493-B8E4-A801403BC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9F7922-32C7-42A5-BABC-1C2817C6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75D0B-11DE-4043-81EC-F967F31A4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77540-4735-4C6E-AA17-0ADDE418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1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FA681-6048-41CA-8EE5-18ECCC6B5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6CD06C-2ADB-4CCB-A295-67983798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C4797-FCD3-4FA6-BD17-8B3CD031A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328AB-34F6-44C9-A2B4-D0E87C29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2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9D4081-E154-40FA-BBE5-7692FDB72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CEB5C0-E609-4A71-889A-0D41BA90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CDCEE-D40A-482F-A6EC-F52792E8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8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57E4-A4C3-4D89-A680-F5C7208F3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8E35F-81E6-4BD2-B9BB-73399AA0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8CDDE-5AAC-4A6C-BF8F-632158684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FC51D-7EC7-4964-9345-1163ED883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06B7A-BADA-47DF-973A-59EF244F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3A95F-EC8A-4888-B512-955CAC47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D473-8AD5-4CD3-B3A4-66DEE7EC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1F021-E9AD-4430-B440-CC2DEE6A8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B7BD5-0253-48B5-8E2A-ECBD53884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95841-DF56-4098-9B4D-29EBCCED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F929C-BC98-4E81-98E1-B2042783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BFBF4-3EC2-4C00-8CB2-07097D76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57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9A38F-52B2-4288-ADC4-EC9431840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EBF72-2A0F-43EB-9522-F6FF5C6BC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349B1-AC96-4DAC-A684-13F6D35F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455FC-5C63-44FC-851E-DF8E2773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F77D0-164C-4E7B-8924-C194596E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43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C7452-D925-40CD-B50B-481AF58FD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EE691-9D19-4D59-BAD3-832D199CB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9D0DF-D868-4404-A832-221F22D5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8F5D9-90FB-40AC-A70E-FCB5F282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B1D6A-FF58-4BFE-8EA6-9C8E990D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B3531A-987F-469B-9C02-FB0C0860B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1D8C3-1A92-4F83-A76C-F2987AFFF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8C2E4-C7BA-4F17-A1E1-2A6D4C21B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8BF67-7891-486D-88D3-710B3010BC8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49287-8FBE-4C2D-9F9A-A5BE3A770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98865-5A83-44F7-9462-0A55E94D6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D6B9D-06BC-4AD5-B2E3-282B02149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63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3A7E28-6390-4AB0-BC5E-D15C54B35BB8}"/>
              </a:ext>
            </a:extLst>
          </p:cNvPr>
          <p:cNvSpPr txBox="1"/>
          <p:nvPr/>
        </p:nvSpPr>
        <p:spPr>
          <a:xfrm>
            <a:off x="31323" y="1128918"/>
            <a:ext cx="404552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5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1.5 million HIV+ women giving birth every year and effective prevention of mother-to-child transmission, HIV exposed but uninfected (HEU) infants are a growing population.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8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5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HEU infants exhibit increased rates of lower respiratory tract infections and diarrheal diseases, compared to HIV unexposed (HU) infants during their first year of life.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8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5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Exposure to HIV and/or ART before birth may perturb the developing fetal immune system by increasing inflammation at the fetal-maternal interface.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8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85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nnate-like T cells [</a:t>
            </a:r>
            <a:r>
              <a:rPr lang="en-US" sz="850" dirty="0" err="1">
                <a:latin typeface="Symbol" panose="05050102010706020507" pitchFamily="18" charset="2"/>
                <a:cs typeface="Arial" panose="020B0604020202020204" pitchFamily="34" charset="0"/>
              </a:rPr>
              <a:t>gd</a:t>
            </a:r>
            <a:r>
              <a:rPr lang="en-US" sz="850" dirty="0">
                <a:latin typeface="Symbol" panose="05050102010706020507" pitchFamily="18" charset="2"/>
                <a:cs typeface="Arial" panose="020B0604020202020204" pitchFamily="34" charset="0"/>
              </a:rPr>
              <a:t> </a:t>
            </a: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(V</a:t>
            </a:r>
            <a:r>
              <a:rPr lang="en-US" sz="850" dirty="0">
                <a:latin typeface="Symbol" panose="05050102010706020507" pitchFamily="18" charset="2"/>
                <a:cs typeface="Arial" panose="020B0604020202020204" pitchFamily="34" charset="0"/>
              </a:rPr>
              <a:t>d2)</a:t>
            </a: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, MAIT, NKT cells</a:t>
            </a:r>
            <a:r>
              <a:rPr lang="en-US" sz="850" dirty="0"/>
              <a:t>)</a:t>
            </a: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5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play important roles against pathogens in early life, being activated by microbial metabolites as well as cytokines produced by innate immune cells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8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5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Upon activation, they mount Th1-like and cytotoxic responses in the early phase of the infection.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8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Perturbation of Innate-like T cells by prenatal exposure to HIV/ART may contribute to the </a:t>
            </a:r>
            <a:r>
              <a:rPr lang="en-US" sz="85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increased infectious morbidity seen in HEU infants.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8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8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9F333-C8CC-4E50-B956-8492B1662B41}"/>
              </a:ext>
            </a:extLst>
          </p:cNvPr>
          <p:cNvSpPr/>
          <p:nvPr/>
        </p:nvSpPr>
        <p:spPr>
          <a:xfrm>
            <a:off x="81363" y="171399"/>
            <a:ext cx="12014441" cy="7790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77C94-45E9-41EC-B406-E20819C11B8C}"/>
              </a:ext>
            </a:extLst>
          </p:cNvPr>
          <p:cNvSpPr txBox="1"/>
          <p:nvPr/>
        </p:nvSpPr>
        <p:spPr>
          <a:xfrm>
            <a:off x="2616620" y="429556"/>
            <a:ext cx="6911271" cy="220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David Thomas Rach</a:t>
            </a:r>
            <a:r>
              <a:rPr lang="en-US" sz="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en-US" sz="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Hao-Ting Hsu</a:t>
            </a:r>
            <a:r>
              <a:rPr lang="en-US" sz="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Nginache Nampota</a:t>
            </a:r>
            <a:r>
              <a:rPr lang="en-US" sz="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US" sz="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Godfrey Mvula</a:t>
            </a:r>
            <a:r>
              <a:rPr lang="en-US" sz="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US" sz="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Franklin R. Toapanta</a:t>
            </a:r>
            <a:r>
              <a:rPr lang="en-US" sz="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sz="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Marcelo B. Sztein</a:t>
            </a:r>
            <a:r>
              <a:rPr lang="en-US" sz="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sz="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</a:p>
          <a:p>
            <a:pPr marL="0" marR="0" algn="ctr">
              <a:lnSpc>
                <a:spcPct val="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Miriam Laufer</a:t>
            </a:r>
            <a:r>
              <a:rPr lang="en-US" sz="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sz="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Kirsten E. Lyke</a:t>
            </a:r>
            <a:r>
              <a:rPr lang="en-US" sz="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sz="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Cristiana Cairo</a:t>
            </a:r>
            <a:r>
              <a:rPr lang="en-US" sz="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en-US" sz="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07F961-1281-4E75-A32E-9EAF506BBB5E}"/>
              </a:ext>
            </a:extLst>
          </p:cNvPr>
          <p:cNvSpPr txBox="1"/>
          <p:nvPr/>
        </p:nvSpPr>
        <p:spPr>
          <a:xfrm>
            <a:off x="1642729" y="217079"/>
            <a:ext cx="8875984" cy="19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Innate-like T cell responses in HIV exposed uninfected (HEU) Malawian infants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EC5F9A-4DF9-49B0-B828-4285C0F653A9}"/>
              </a:ext>
            </a:extLst>
          </p:cNvPr>
          <p:cNvSpPr txBox="1"/>
          <p:nvPr/>
        </p:nvSpPr>
        <p:spPr>
          <a:xfrm>
            <a:off x="3013042" y="645585"/>
            <a:ext cx="6911271" cy="32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700" i="1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en-US" sz="7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Molecular Microbiology and Immunology Graduate Program, University of Maryland School of Medicine, Baltimore, MD, United States, </a:t>
            </a:r>
          </a:p>
          <a:p>
            <a:pPr marL="0" marR="0">
              <a:lnSpc>
                <a:spcPct val="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700" i="1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7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Institute for Human Virology, University of Maryland School of Medicine, Baltimore, MD, United States, </a:t>
            </a:r>
            <a:r>
              <a:rPr lang="en-US" sz="700" i="1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US" sz="7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Blantyre Malaria Project, KUHeS, Blantyre, Malawi,</a:t>
            </a:r>
          </a:p>
          <a:p>
            <a:pPr marL="0" marR="0">
              <a:lnSpc>
                <a:spcPct val="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7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en-US" sz="700" i="1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sz="7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Center for Vaccine Development and Global Health, University of Maryland School of Medicine, Baltimore, MD, United States</a:t>
            </a:r>
            <a:endParaRPr lang="en-US" sz="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 descr="Diagram, schematic&#10;&#10;Description automatically generated">
            <a:extLst>
              <a:ext uri="{FF2B5EF4-FFF2-40B4-BE49-F238E27FC236}">
                <a16:creationId xmlns:a16="http://schemas.microsoft.com/office/drawing/2014/main" id="{4AD41882-BFFB-43CB-B8AA-E4DD84E0C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254" y="4212838"/>
            <a:ext cx="3934701" cy="2383779"/>
          </a:xfrm>
          <a:prstGeom prst="rect">
            <a:avLst/>
          </a:prstGeom>
        </p:spPr>
      </p:pic>
      <p:pic>
        <p:nvPicPr>
          <p:cNvPr id="24" name="Picture 23" descr="Chart, box and whisker chart&#10;&#10;Description automatically generated">
            <a:extLst>
              <a:ext uri="{FF2B5EF4-FFF2-40B4-BE49-F238E27FC236}">
                <a16:creationId xmlns:a16="http://schemas.microsoft.com/office/drawing/2014/main" id="{B051C7DD-5A8C-4596-9128-C12246342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120" y="1572225"/>
            <a:ext cx="2817407" cy="1583373"/>
          </a:xfrm>
          <a:prstGeom prst="rect">
            <a:avLst/>
          </a:prstGeom>
        </p:spPr>
      </p:pic>
      <p:pic>
        <p:nvPicPr>
          <p:cNvPr id="26" name="Picture 25" descr="Diagram&#10;&#10;Description automatically generated">
            <a:extLst>
              <a:ext uri="{FF2B5EF4-FFF2-40B4-BE49-F238E27FC236}">
                <a16:creationId xmlns:a16="http://schemas.microsoft.com/office/drawing/2014/main" id="{C4E7FE7C-60F2-452A-8A66-B2F44DC0A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332" y="1563766"/>
            <a:ext cx="3035417" cy="241868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8FD47E4-807F-45C7-8ECC-35BC9B3243D9}"/>
              </a:ext>
            </a:extLst>
          </p:cNvPr>
          <p:cNvSpPr/>
          <p:nvPr/>
        </p:nvSpPr>
        <p:spPr>
          <a:xfrm>
            <a:off x="8417240" y="3656117"/>
            <a:ext cx="3735459" cy="2944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Future Directions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C3685D-81F5-40CF-B378-BC436DB1A9D5}"/>
              </a:ext>
            </a:extLst>
          </p:cNvPr>
          <p:cNvSpPr/>
          <p:nvPr/>
        </p:nvSpPr>
        <p:spPr>
          <a:xfrm>
            <a:off x="4008475" y="1022858"/>
            <a:ext cx="8102163" cy="2223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4D93E3-D923-445D-B39F-024BB3E5994E}"/>
              </a:ext>
            </a:extLst>
          </p:cNvPr>
          <p:cNvSpPr/>
          <p:nvPr/>
        </p:nvSpPr>
        <p:spPr>
          <a:xfrm>
            <a:off x="81362" y="1006675"/>
            <a:ext cx="3840762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76D0C3-EB59-43D0-97C2-45920EFF44FE}"/>
              </a:ext>
            </a:extLst>
          </p:cNvPr>
          <p:cNvSpPr/>
          <p:nvPr/>
        </p:nvSpPr>
        <p:spPr>
          <a:xfrm>
            <a:off x="8409698" y="6104827"/>
            <a:ext cx="3743001" cy="2609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Acknowledgements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EF131C-AE82-4D9A-B7AE-92A9A4C974D3}"/>
              </a:ext>
            </a:extLst>
          </p:cNvPr>
          <p:cNvSpPr txBox="1"/>
          <p:nvPr/>
        </p:nvSpPr>
        <p:spPr>
          <a:xfrm>
            <a:off x="3927859" y="1293043"/>
            <a:ext cx="4261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Figure 1. The frequency of Th1-cytokine-producing cells is higher in cord blood V</a:t>
            </a:r>
            <a:r>
              <a:rPr lang="en-US" sz="800" b="1" dirty="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2 lymphocytes than in total CD3 cells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C9C01E-CC6C-4EE7-A3C8-190214411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6055" y="261144"/>
            <a:ext cx="661005" cy="61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 descr="Text&#10;&#10;Description automatically generated">
            <a:extLst>
              <a:ext uri="{FF2B5EF4-FFF2-40B4-BE49-F238E27FC236}">
                <a16:creationId xmlns:a16="http://schemas.microsoft.com/office/drawing/2014/main" id="{772BA0AE-FFCF-4470-8E17-4FDE49E58F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48" y="252273"/>
            <a:ext cx="2006688" cy="63344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A527158-DC53-47FB-936D-21676A9B0E92}"/>
              </a:ext>
            </a:extLst>
          </p:cNvPr>
          <p:cNvSpPr txBox="1"/>
          <p:nvPr/>
        </p:nvSpPr>
        <p:spPr>
          <a:xfrm>
            <a:off x="0" y="-24118"/>
            <a:ext cx="1373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Poster #369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691920-DB5C-4747-AF3B-884ABEB45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549631"/>
              </p:ext>
            </p:extLst>
          </p:nvPr>
        </p:nvGraphicFramePr>
        <p:xfrm>
          <a:off x="89786" y="4262818"/>
          <a:ext cx="3840762" cy="2399100"/>
        </p:xfrm>
        <a:graphic>
          <a:graphicData uri="http://schemas.openxmlformats.org/drawingml/2006/table">
            <a:tbl>
              <a:tblPr/>
              <a:tblGrid>
                <a:gridCol w="596629">
                  <a:extLst>
                    <a:ext uri="{9D8B030D-6E8A-4147-A177-3AD203B41FA5}">
                      <a16:colId xmlns:a16="http://schemas.microsoft.com/office/drawing/2014/main" val="1861813528"/>
                    </a:ext>
                  </a:extLst>
                </a:gridCol>
                <a:gridCol w="180188">
                  <a:extLst>
                    <a:ext uri="{9D8B030D-6E8A-4147-A177-3AD203B41FA5}">
                      <a16:colId xmlns:a16="http://schemas.microsoft.com/office/drawing/2014/main" val="2896137638"/>
                    </a:ext>
                  </a:extLst>
                </a:gridCol>
                <a:gridCol w="349315">
                  <a:extLst>
                    <a:ext uri="{9D8B030D-6E8A-4147-A177-3AD203B41FA5}">
                      <a16:colId xmlns:a16="http://schemas.microsoft.com/office/drawing/2014/main" val="3121142774"/>
                    </a:ext>
                  </a:extLst>
                </a:gridCol>
                <a:gridCol w="218745">
                  <a:extLst>
                    <a:ext uri="{9D8B030D-6E8A-4147-A177-3AD203B41FA5}">
                      <a16:colId xmlns:a16="http://schemas.microsoft.com/office/drawing/2014/main" val="3163996431"/>
                    </a:ext>
                  </a:extLst>
                </a:gridCol>
                <a:gridCol w="218745">
                  <a:extLst>
                    <a:ext uri="{9D8B030D-6E8A-4147-A177-3AD203B41FA5}">
                      <a16:colId xmlns:a16="http://schemas.microsoft.com/office/drawing/2014/main" val="4292562212"/>
                    </a:ext>
                  </a:extLst>
                </a:gridCol>
                <a:gridCol w="80480">
                  <a:extLst>
                    <a:ext uri="{9D8B030D-6E8A-4147-A177-3AD203B41FA5}">
                      <a16:colId xmlns:a16="http://schemas.microsoft.com/office/drawing/2014/main" val="3979625272"/>
                    </a:ext>
                  </a:extLst>
                </a:gridCol>
                <a:gridCol w="709766">
                  <a:extLst>
                    <a:ext uri="{9D8B030D-6E8A-4147-A177-3AD203B41FA5}">
                      <a16:colId xmlns:a16="http://schemas.microsoft.com/office/drawing/2014/main" val="3716998959"/>
                    </a:ext>
                  </a:extLst>
                </a:gridCol>
                <a:gridCol w="818984">
                  <a:extLst>
                    <a:ext uri="{9D8B030D-6E8A-4147-A177-3AD203B41FA5}">
                      <a16:colId xmlns:a16="http://schemas.microsoft.com/office/drawing/2014/main" val="366316307"/>
                    </a:ext>
                  </a:extLst>
                </a:gridCol>
                <a:gridCol w="667910">
                  <a:extLst>
                    <a:ext uri="{9D8B030D-6E8A-4147-A177-3AD203B41FA5}">
                      <a16:colId xmlns:a16="http://schemas.microsoft.com/office/drawing/2014/main" val="2046427620"/>
                    </a:ext>
                  </a:extLst>
                </a:gridCol>
              </a:tblGrid>
              <a:tr h="113245">
                <a:tc>
                  <a:txBody>
                    <a:bodyPr/>
                    <a:lstStyle/>
                    <a:p>
                      <a:pPr algn="just" rtl="0" fontAlgn="base"/>
                      <a:endParaRPr lang="en-US" sz="8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7540" marR="27540" marT="13770" marB="1377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endParaRPr lang="en-US" sz="8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endParaRPr lang="en-US" sz="8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endParaRPr lang="en-US" sz="8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endParaRPr lang="en-US" sz="8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HEU-Lo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8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HEU-Hi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HU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447480"/>
                  </a:ext>
                </a:extLst>
              </a:tr>
              <a:tr h="970641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8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Eligibility</a:t>
                      </a:r>
                    </a:p>
                    <a:p>
                      <a:pPr algn="just" rtl="0" fontAlgn="base"/>
                      <a:r>
                        <a:rPr lang="en-US" sz="8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criteria​</a:t>
                      </a:r>
                    </a:p>
                  </a:txBody>
                  <a:tcPr marL="27540" marR="27540" marT="13770" marB="1377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Informed consent​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antenatal visit​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Intending to breast feed​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Gestational age 24-36 weeks​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Cord blood specimen collected ​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Mother began first line ART prior to conception​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Undetectable viral load at first screening visit and at delivery ​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Mother initiates first line therapy at ANC clinic​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endParaRPr lang="en-US" sz="8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Viral load at screening 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&gt;10,000 copies/mL​</a:t>
                      </a:r>
                    </a:p>
                    <a:p>
                      <a:pPr algn="just" rtl="0" fontAlgn="base"/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​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Mother has a negative 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HIV RDT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 enrollment and at delivery​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956371"/>
                  </a:ext>
                </a:extLst>
              </a:tr>
              <a:tr h="760958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 </a:t>
                      </a:r>
                    </a:p>
                    <a:p>
                      <a:pPr algn="l" rtl="0" fontAlgn="base"/>
                      <a:r>
                        <a:rPr lang="en-US" sz="8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evaluable</a:t>
                      </a:r>
                    </a:p>
                    <a:p>
                      <a:pPr algn="l" rtl="0" fontAlgn="base"/>
                      <a:r>
                        <a:rPr lang="en-US" sz="8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specimens​</a:t>
                      </a:r>
                    </a:p>
                  </a:txBody>
                  <a:tcPr marL="27540" marR="27540" marT="13770" marB="1377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Received BCG x1 and diphtheria-pertussis-tetanus vaccine (DPT) x3​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milk substitute formula feeding​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HIV negative at 9 months of age​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Continues ART through the study period​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Continues 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 through 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study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period​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Mother has a negative HIV rapid test at delivery and at 9 months​</a:t>
                      </a:r>
                    </a:p>
                  </a:txBody>
                  <a:tcPr marL="27540" marR="27540" marT="13770" marB="1377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21006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32BE3D6-69AF-4389-AD87-BC9B485332B6}"/>
              </a:ext>
            </a:extLst>
          </p:cNvPr>
          <p:cNvSpPr txBox="1"/>
          <p:nvPr/>
        </p:nvSpPr>
        <p:spPr>
          <a:xfrm>
            <a:off x="10771601" y="4147918"/>
            <a:ext cx="13659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nalyze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the 3 infant groups  for the main human ILT subsets  </a:t>
            </a: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employing 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30-color panel (optimized for a 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Cytek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Aurora) that includes  hCD1d &amp; hMR1 tetramers to identify NKT and MAITs.</a:t>
            </a:r>
          </a:p>
          <a:p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adaptive responses (T &amp; B cells) to vaccine antigens</a:t>
            </a:r>
            <a:endParaRPr lang="en-US" sz="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7D42E3-426E-46BA-AC83-1BA863FF657A}"/>
              </a:ext>
            </a:extLst>
          </p:cNvPr>
          <p:cNvSpPr txBox="1"/>
          <p:nvPr/>
        </p:nvSpPr>
        <p:spPr>
          <a:xfrm>
            <a:off x="8369757" y="1290060"/>
            <a:ext cx="37788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Figure 3. HEU neonates display lower frequencies of naïve V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 cells compared to HU, but the difference is not statistically significant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FF3C8E-9634-4F53-8BB9-F790AA5C8E56}"/>
              </a:ext>
            </a:extLst>
          </p:cNvPr>
          <p:cNvSpPr txBox="1"/>
          <p:nvPr/>
        </p:nvSpPr>
        <p:spPr>
          <a:xfrm>
            <a:off x="8410509" y="3931261"/>
            <a:ext cx="37118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Figure 4. Neonatal ILT subsets exhibit different memory and cytokine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production phenotype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96326D-801E-42FF-9D6E-E3F5C06FAF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6843" y="252274"/>
            <a:ext cx="1353986" cy="61551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1EE4FCD-34AF-4617-91ED-F7173B64D1ED}"/>
              </a:ext>
            </a:extLst>
          </p:cNvPr>
          <p:cNvSpPr txBox="1"/>
          <p:nvPr/>
        </p:nvSpPr>
        <p:spPr>
          <a:xfrm>
            <a:off x="29628" y="4013852"/>
            <a:ext cx="230657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Table 1. Study Inclusion/Exclusion Criteria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9D6A7F-52C3-493E-AE03-43E3007104BB}"/>
              </a:ext>
            </a:extLst>
          </p:cNvPr>
          <p:cNvSpPr txBox="1"/>
          <p:nvPr/>
        </p:nvSpPr>
        <p:spPr>
          <a:xfrm>
            <a:off x="3937279" y="3931261"/>
            <a:ext cx="47042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Figure 2. The frequency of polyfunctional V</a:t>
            </a:r>
            <a:r>
              <a:rPr lang="en-US" sz="800" b="1" dirty="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2 cells is higher in HEU than in HU neonates.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2299A1-58E0-4E5B-9F3B-8819A3B0144C}"/>
              </a:ext>
            </a:extLst>
          </p:cNvPr>
          <p:cNvSpPr txBox="1"/>
          <p:nvPr/>
        </p:nvSpPr>
        <p:spPr>
          <a:xfrm>
            <a:off x="6925844" y="1551017"/>
            <a:ext cx="1456113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After thawing, Cord Blood Mononuclear Cells (CBMC) were resuspended in complete RPMI 1640</a:t>
            </a:r>
          </a:p>
          <a:p>
            <a:pPr algn="just"/>
            <a:endParaRPr lang="en-US" sz="8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1.5x10</a:t>
            </a:r>
            <a:r>
              <a:rPr lang="en-US" sz="800" baseline="30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CBMCs were stimulated with PMA-ionomycin (plus protein transport inhibitor) at 37*C for 6 hours. </a:t>
            </a:r>
          </a:p>
          <a:p>
            <a:pPr algn="just"/>
            <a:endParaRPr lang="en-US" sz="8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After stimulation, cells were stained with fixable viability dye, surface, and intracellular markers. Cells were then analyzed on a BD LSR-II Flow Cytometry analyzer.</a:t>
            </a:r>
          </a:p>
          <a:p>
            <a:endParaRPr lang="en-US" sz="8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DDB575-C780-46F0-B97E-61185C177DA4}"/>
              </a:ext>
            </a:extLst>
          </p:cNvPr>
          <p:cNvSpPr txBox="1"/>
          <p:nvPr/>
        </p:nvSpPr>
        <p:spPr>
          <a:xfrm>
            <a:off x="8459033" y="6365784"/>
            <a:ext cx="3743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Blantyre Malaria Project 	</a:t>
            </a:r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 Study Participants</a:t>
            </a:r>
            <a:endParaRPr lang="en-US" sz="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NIH Tetramer Core</a:t>
            </a:r>
            <a:r>
              <a:rPr lang="en-US" sz="800" dirty="0">
                <a:solidFill>
                  <a:srgbClr val="000000"/>
                </a:solidFill>
                <a:latin typeface="Open Sans" panose="020B0606030504020204" pitchFamily="34" charset="0"/>
                <a:cs typeface="Arial" panose="020B0604020202020204" pitchFamily="34" charset="0"/>
              </a:rPr>
              <a:t>		</a:t>
            </a: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UMGCCC Flow Cytometry Core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U01 HD092308</a:t>
            </a:r>
          </a:p>
        </p:txBody>
      </p:sp>
      <p:pic>
        <p:nvPicPr>
          <p:cNvPr id="65" name="Picture 64" descr="Table&#10;&#10;Description automatically generated with medium confidence">
            <a:extLst>
              <a:ext uri="{FF2B5EF4-FFF2-40B4-BE49-F238E27FC236}">
                <a16:creationId xmlns:a16="http://schemas.microsoft.com/office/drawing/2014/main" id="{1F0187A3-C0A5-43C9-88A3-83CD0039033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3" r="27703"/>
          <a:stretch/>
        </p:blipFill>
        <p:spPr>
          <a:xfrm>
            <a:off x="8391884" y="4147918"/>
            <a:ext cx="2449481" cy="195690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710F9D8-78A2-45DB-B1C1-3D1CCE4E7158}"/>
              </a:ext>
            </a:extLst>
          </p:cNvPr>
          <p:cNvSpPr txBox="1"/>
          <p:nvPr/>
        </p:nvSpPr>
        <p:spPr>
          <a:xfrm>
            <a:off x="4255023" y="6532306"/>
            <a:ext cx="39347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PBMCs and CBMCs were treated in the same manner as described in Figure 1</a:t>
            </a:r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D2DC7D-A419-4C12-BDF2-8573BA55E54E}"/>
              </a:ext>
            </a:extLst>
          </p:cNvPr>
          <p:cNvSpPr txBox="1"/>
          <p:nvPr/>
        </p:nvSpPr>
        <p:spPr>
          <a:xfrm>
            <a:off x="8409698" y="3045593"/>
            <a:ext cx="3841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After thawing, cells were stained with differentiation markers and analyzed on an </a:t>
            </a: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LSR-II Flow Cytometry analyzer.  </a:t>
            </a:r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Boxplots display median frequency and interquartile range of the main differentiation subsets for each of the three HIV exposure groups.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015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693</Words>
  <Application>Microsoft Office PowerPoint</Application>
  <PresentationFormat>Widescreen</PresentationFormat>
  <Paragraphs>85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Rach, David</dc:creator>
  <cp:lastModifiedBy>Rach, David</cp:lastModifiedBy>
  <cp:revision>22</cp:revision>
  <dcterms:created xsi:type="dcterms:W3CDTF">2021-11-01T16:23:00Z</dcterms:created>
  <dcterms:modified xsi:type="dcterms:W3CDTF">2026-06-11T04:20:09Z</dcterms:modified>
</cp:coreProperties>
</file>